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a12700bdf54ecd" /><Relationship Type="http://schemas.openxmlformats.org/officeDocument/2006/relationships/extended-properties" Target="/docProps/app.xml" Id="Re698957bdc884f63" /><Relationship Type="http://schemas.openxmlformats.org/officeDocument/2006/relationships/officeDocument" Target="/ppt/presentation.xml" Id="Rf22c6c34d66f47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9928fd98b54d06"/>
  </p:sldMasterIdLst>
  <p:notesMasterIdLst>
    <p:notesMasterId xmlns:r="http://schemas.openxmlformats.org/officeDocument/2006/relationships" r:id="Rd8a03b892d67460e"/>
  </p:notesMasterIdLst>
  <p:sldIdLst>
    <p:sldId xmlns:r="http://schemas.openxmlformats.org/officeDocument/2006/relationships" id="256" r:id="R03baf27a2361446f"/>
    <p:sldId xmlns:r="http://schemas.openxmlformats.org/officeDocument/2006/relationships" id="257" r:id="R238fe06fa3854833"/>
    <p:sldId xmlns:r="http://schemas.openxmlformats.org/officeDocument/2006/relationships" id="258" r:id="R84e5bc7504ee4766"/>
    <p:sldId xmlns:r="http://schemas.openxmlformats.org/officeDocument/2006/relationships" id="259" r:id="R9ebdbd3dfd1b4d2b"/>
    <p:sldId xmlns:r="http://schemas.openxmlformats.org/officeDocument/2006/relationships" id="260" r:id="R33190fa6d18e41f1"/>
    <p:sldId xmlns:r="http://schemas.openxmlformats.org/officeDocument/2006/relationships" id="261" r:id="Rd647adb03adc4094"/>
    <p:sldId xmlns:r="http://schemas.openxmlformats.org/officeDocument/2006/relationships" id="262" r:id="R69962a60ff7b40fc"/>
    <p:sldId xmlns:r="http://schemas.openxmlformats.org/officeDocument/2006/relationships" id="263" r:id="R51dcb2ccc9e6482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0ed62a4fa84a05" /><Relationship Type="http://schemas.openxmlformats.org/officeDocument/2006/relationships/slideMaster" Target="/ppt/slideMasters/slideMaster1.xml" Id="Rfb9928fd98b54d06" /><Relationship Type="http://schemas.openxmlformats.org/officeDocument/2006/relationships/notesMaster" Target="/ppt/notesMasters/notesMaster1.xml" Id="Rd8a03b892d67460e" /><Relationship Type="http://schemas.openxmlformats.org/officeDocument/2006/relationships/presProps" Target="/ppt/presProps.xml" Id="R9acd20703da545a6" /><Relationship Type="http://schemas.openxmlformats.org/officeDocument/2006/relationships/tableStyles" Target="/ppt/tableStyles.xml" Id="Re9cbc64336c142f4" /><Relationship Type="http://schemas.openxmlformats.org/officeDocument/2006/relationships/slide" Target="/ppt/slides/slide1.xml" Id="R03baf27a2361446f" /><Relationship Type="http://schemas.openxmlformats.org/officeDocument/2006/relationships/slide" Target="/ppt/slides/slide2.xml" Id="R238fe06fa3854833" /><Relationship Type="http://schemas.openxmlformats.org/officeDocument/2006/relationships/slide" Target="/ppt/slides/slide3.xml" Id="R84e5bc7504ee4766" /><Relationship Type="http://schemas.openxmlformats.org/officeDocument/2006/relationships/slide" Target="/ppt/slides/slide4.xml" Id="R9ebdbd3dfd1b4d2b" /><Relationship Type="http://schemas.openxmlformats.org/officeDocument/2006/relationships/slide" Target="/ppt/slides/slide5.xml" Id="R33190fa6d18e41f1" /><Relationship Type="http://schemas.openxmlformats.org/officeDocument/2006/relationships/slide" Target="/ppt/slides/slide6.xml" Id="Rd647adb03adc4094" /><Relationship Type="http://schemas.openxmlformats.org/officeDocument/2006/relationships/slide" Target="/ppt/slides/slide7.xml" Id="R69962a60ff7b40fc" /><Relationship Type="http://schemas.openxmlformats.org/officeDocument/2006/relationships/slide" Target="/ppt/slides/slide8.xml" Id="R51dcb2ccc9e648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e84c8ab47f4a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473b0d6b3e422d" /><Relationship Type="http://schemas.openxmlformats.org/officeDocument/2006/relationships/notesMaster" Target="/ppt/notesMasters/notesMaster1.xml" Id="Re2d4b235d47c48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f2b0959acd4ef3" /><Relationship Type="http://schemas.openxmlformats.org/officeDocument/2006/relationships/notesMaster" Target="/ppt/notesMasters/notesMaster1.xml" Id="Re23189ac6b784b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e143c7cc694354" /><Relationship Type="http://schemas.openxmlformats.org/officeDocument/2006/relationships/notesMaster" Target="/ppt/notesMasters/notesMaster1.xml" Id="R085764fdee524d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8b45db7f1f4886" /><Relationship Type="http://schemas.openxmlformats.org/officeDocument/2006/relationships/notesMaster" Target="/ppt/notesMasters/notesMaster1.xml" Id="R064ed2b59d7142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e0897acd7f43a2" /><Relationship Type="http://schemas.openxmlformats.org/officeDocument/2006/relationships/notesMaster" Target="/ppt/notesMasters/notesMaster1.xml" Id="Rf38f34def01049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c34174a2fa4f6e" /><Relationship Type="http://schemas.openxmlformats.org/officeDocument/2006/relationships/notesMaster" Target="/ppt/notesMasters/notesMaster1.xml" Id="Rc4533662ae6648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a9aa8d51d94dbe" /><Relationship Type="http://schemas.openxmlformats.org/officeDocument/2006/relationships/notesMaster" Target="/ppt/notesMasters/notesMaster1.xml" Id="Raa761235fea648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bff6dcba444d03" /><Relationship Type="http://schemas.openxmlformats.org/officeDocument/2006/relationships/notesMaster" Target="/ppt/notesMasters/notesMaster1.xml" Id="R06576b1261a14a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reunião busca qualificar uma oportunidade para a WCE.</a:t>
            </a:r>
          </a:p>
          <a:p xmlns:a="http://schemas.openxmlformats.org/drawingml/2006/main">
            <a:r>
              <a:t>O material não constitui proposta, preço, prazo, escopo definitivo ou promessa de contratação.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PSA-X coordena a preparação e a interface técnica brasileira.</a:t>
            </a:r>
          </a:p>
          <a:p xmlns:a="http://schemas.openxmlformats.org/drawingml/2006/main">
            <a:r>
              <a:t>A R2 conduz a aproximação comercial com o EPC.</a:t>
            </a:r>
          </a:p>
          <a:p xmlns:a="http://schemas.openxmlformats.org/drawingml/2006/main">
            <a:r>
              <a:t>Robert é o interlocutor previsto da WCE; nome completo e contato direto permanecem pendentes.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Separar os fatos públicos Petrobras dos dados confirmados em registro operacional.</a:t>
            </a:r>
          </a:p>
          <a:p xmlns:a="http://schemas.openxmlformats.org/drawingml/2006/main">
            <a:r>
              <a:t>O objetivo do valor é demonstrar porte, não estimar a parcela acessível à WCE.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apresentar comissão, vigência ou outros termos do contrato.</a:t>
            </a:r>
          </a:p>
          <a:p xmlns:a="http://schemas.openxmlformats.org/drawingml/2006/main">
            <a:r>
              <a:t>A estratégia proposta é entrar pelo EPC e obter o canal formal de engenharia e suprimentos.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Petrobras confirmou HEFA, pré-tratamento e tanques para a RPBC.</a:t>
            </a:r>
          </a:p>
          <a:p xmlns:a="http://schemas.openxmlformats.org/drawingml/2006/main">
            <a:r>
              <a:t>As demais etapas representam a rota HEFA geral e não uma lista tagueada do EPC.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citar clientes da WCE nem alegar experiência HEFA específica sem evidência.</a:t>
            </a:r>
          </a:p>
          <a:p xmlns:a="http://schemas.openxmlformats.org/drawingml/2006/main">
            <a:r>
              <a:t>O cruzamento demonstra potencial por família, não escopo garantido.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 capacidades e certificações são declarações institucionais da WCE.</a:t>
            </a:r>
          </a:p>
          <a:p xmlns:a="http://schemas.openxmlformats.org/drawingml/2006/main">
            <a:r>
              <a:t>A vigência, o escopo e a aceitação pelo EPC precisam ser verificados.</a:t>
            </a:r>
          </a:p>
          <a:p xmlns:a="http://schemas.openxmlformats.org/drawingml/2006/main">
            <a:r>
              <a:t>A divisão de responsabilidades sobre NR-13 ainda será definida técnica e contratualmente.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Fechar a reunião pedindo uma decisão objetiva: interesse, interlocutores e famílias prioritárias.</a:t>
            </a:r>
          </a:p>
          <a:p xmlns:a="http://schemas.openxmlformats.org/drawingml/2006/main">
            <a:r>
              <a:t>Após os documentos do EPC, PSA-X e WCE poderão decidir se existe base para cotação.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e727ab0c3c4d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5060f9b70c47b4" /><Relationship Type="http://schemas.openxmlformats.org/officeDocument/2006/relationships/slideLayout" Target="/ppt/slideLayouts/slideLayout1.xml" Id="R88adc70edb084e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adc70edb084e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a2676624b417d" /><Relationship Type="http://schemas.openxmlformats.org/officeDocument/2006/relationships/notesSlide" Target="/ppt/notesSlides/notesSlide1.xml" Id="R42e14cdc7d654f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97e0f19ae4487f" /><Relationship Type="http://schemas.openxmlformats.org/officeDocument/2006/relationships/notesSlide" Target="/ppt/notesSlides/notesSlide2.xml" Id="R2f3226aa327f4a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748eb1a564c1e" /><Relationship Type="http://schemas.openxmlformats.org/officeDocument/2006/relationships/notesSlide" Target="/ppt/notesSlides/notesSlide3.xml" Id="Rdb7ac2d4b90842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1d9989e5645a5" /><Relationship Type="http://schemas.openxmlformats.org/officeDocument/2006/relationships/notesSlide" Target="/ppt/notesSlides/notesSlide4.xml" Id="R91c52bb3f83b4e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ff8e655e448a4" /><Relationship Type="http://schemas.openxmlformats.org/officeDocument/2006/relationships/notesSlide" Target="/ppt/notesSlides/notesSlide5.xml" Id="R81fb35aa9d2745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d95e9930041ab" /><Relationship Type="http://schemas.openxmlformats.org/officeDocument/2006/relationships/notesSlide" Target="/ppt/notesSlides/notesSlide6.xml" Id="R0d744616e99847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4bfd614d949bb" /><Relationship Type="http://schemas.openxmlformats.org/officeDocument/2006/relationships/notesSlide" Target="/ppt/notesSlides/notesSlide7.xml" Id="R474a1c6b1b2f4a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9da496cf74481" /><Relationship Type="http://schemas.openxmlformats.org/officeDocument/2006/relationships/notesSlide" Target="/ppt/notesSlides/notesSlide8.xml" Id="Re053e458291c46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657272-74D1-4C87-BF5F-3E64B097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D600EA-B15D-4E1A-A02F-E0E46773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1305E-1816-48B2-AE77-73508E3D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DDCE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DDCE1"/>
                </a:solidFill>
                <a:latin typeface="Arial"/>
                <a:ea typeface="Arial"/>
                <a:cs typeface="Arial"/>
              </a:rPr>
              <a:t>PSA-X  |  WCE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B3B7D-6438-4FF6-B526-86971189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800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Projeto BIOQAV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90B08-1AFC-4C7C-A127-BFDD616F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752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D7E5E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7E5EE"/>
                </a:solidFill>
                <a:latin typeface="Arial"/>
                <a:ea typeface="Arial"/>
                <a:cs typeface="Arial"/>
              </a:rPr>
              <a:t>Oportunidade para avaliação técnica e comercial da WCE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0D9531-CFF7-4BEE-8B6D-4E2FBBDE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38125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173A5E"/>
          </a:solidFill>
          <a:ln xmlns:a="http://schemas.openxmlformats.org/drawingml/2006/main" w="9525">
            <a:solidFill>
              <a:srgbClr val="3159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A472D-0215-4B03-B2BD-E4321763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5737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RPBC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6B628B-924C-484E-ACDC-BF440A75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8D8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D8E8"/>
                </a:solidFill>
                <a:latin typeface="Arial"/>
                <a:ea typeface="Arial"/>
                <a:cs typeface="Arial"/>
              </a:rPr>
              <a:t>Cubatão • SP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0D8EC6-9E62-45AC-8979-76EEE422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242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ED6C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ED6C1"/>
                </a:solidFill>
                <a:latin typeface="Arial"/>
                <a:ea typeface="Arial"/>
                <a:cs typeface="Arial"/>
              </a:rPr>
              <a:t>HEFA  •  BioQAV  •  HVO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89AA8-5210-4661-B659-EE3CB750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720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4BE4FA-E295-4600-86BE-3FD603A5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Preparado pela PSA-X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4FB38B-ED94-4B3B-9B4F-B7F4C6CD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8D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8D4"/>
                </a:solidFill>
                <a:latin typeface="Arial"/>
                <a:ea typeface="Arial"/>
                <a:cs typeface="Arial"/>
              </a:rPr>
              <a:t>20/07/2026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7FCFE0-DC0A-45D1-B073-A20B4993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245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DDCE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DDCE1"/>
                </a:solidFill>
                <a:latin typeface="Arial"/>
                <a:ea typeface="Arial"/>
                <a:cs typeface="Arial"/>
              </a:rPr>
              <a:t>MATERIAL CONFIDENCIAL PARA DISCUSSÃO</a:t>
            </a:r>
          </a:p>
        </p:txBody>
      </p:sp>
    </p:spTree>
    <p:extLst>
      <p:ext uri="{BB962C8B-B14F-4D97-AF65-F5344CB8AC3E}">
        <p14:creationId xmlns:p14="http://schemas.microsoft.com/office/powerpoint/2010/main" val="17264176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300FB4-E740-4385-96E5-5F1D85EF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07E3E-515B-47CD-BF70-FBCCFEDC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233F"/>
                </a:solidFill>
                <a:latin typeface="Arial"/>
                <a:ea typeface="Arial"/>
                <a:cs typeface="Arial"/>
              </a:rPr>
              <a:t>A equipe reúne coordenação local, liderança técnica e acesso comercial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30114F-09B6-45D2-ACA0-1B7CDB60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0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B75"/>
                </a:solidFill>
                <a:latin typeface="Arial"/>
                <a:ea typeface="Arial"/>
                <a:cs typeface="Arial"/>
              </a:rPr>
              <a:t>BIOQAV • WCE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FA0F7C-9ED7-4096-B17E-E793F804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87F10-D150-483D-B1C2-D6D6E97A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B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3BBEE9-A146-4762-891C-BDBDCBD2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3CF189-2F9E-4D06-BA0A-85087ACB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FA7BB6-F7C8-43FA-85A8-86BFD7F4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9B86C3-E5D1-4E90-B1B4-B3A0180B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5430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33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233F"/>
                </a:solidFill>
                <a:latin typeface="Arial"/>
                <a:ea typeface="Arial"/>
                <a:cs typeface="Arial"/>
              </a:rPr>
              <a:t>Pedro Henrique Ambrósio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CB04F6-9730-4B26-BC35-55E1E993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859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PSA-X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071EE7-1B30-4263-A722-62276772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0972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Coordenação da oportunidade e articulação comercial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39B3E-B272-4354-BD6B-0A74337D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ED55A9-BED8-4033-A202-7FBB9AC8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9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EE3C25-4F4A-4DE3-A3F1-F9FA9D20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62AB11-50C3-43B4-8EBD-EE227E2F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098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33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233F"/>
                </a:solidFill>
                <a:latin typeface="Arial"/>
                <a:ea typeface="Arial"/>
                <a:cs typeface="Arial"/>
              </a:rPr>
              <a:t>Paulo Sérgio Ambrósio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E430B5-E919-40B3-9E33-6740294B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527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PSA-X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191576-BCEC-48B8-A248-2DF5DD23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7652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Liderança técnica, tropicalização e apoio relacionado à NR-13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0A007D-083A-4018-8266-6F97B15F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3651AD-904B-4578-804B-BF874B73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9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BDA448-7909-4560-9637-55B55F07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12D9B0-7608-42EA-9033-7CFF468D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766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33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233F"/>
                </a:solidFill>
                <a:latin typeface="Arial"/>
                <a:ea typeface="Arial"/>
                <a:cs typeface="Arial"/>
              </a:rPr>
              <a:t>Leonardo Rozzetto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473E82-988A-4169-844B-A839339B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195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R2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CBDB1D-B389-416D-9579-4C570B5C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4332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Aproximação comercial e interface com o EPC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FCC0CB-1825-4C64-A8F6-D093D35B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0D03DD-826D-4C74-BAFF-BDB18490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9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1D13F8-FA6D-47F1-BCCD-3BEDC036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96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A5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921704-8900-4CC8-AB57-1FD24C05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434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33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233F"/>
                </a:solidFill>
                <a:latin typeface="Arial"/>
                <a:ea typeface="Arial"/>
                <a:cs typeface="Arial"/>
              </a:rPr>
              <a:t>Robert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A3F68C-1481-4BE8-AE29-B0996264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863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A5E"/>
                </a:solidFill>
                <a:latin typeface="Arial"/>
                <a:ea typeface="Arial"/>
                <a:cs typeface="Arial"/>
              </a:rPr>
              <a:t>WCE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56243D-3AE8-4941-8A47-B1AFE08D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1012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Interlocutor da fabricante para a reunião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08C49F-A4C2-4AAB-8E16-F79EAD4C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Material confidencial para discussão  |  Fontes: F-001, F-004 e F-008</a:t>
            </a:r>
          </a:p>
        </p:txBody>
      </p:sp>
    </p:spTree>
    <p:extLst>
      <p:ext uri="{BB962C8B-B14F-4D97-AF65-F5344CB8AC3E}">
        <p14:creationId xmlns:p14="http://schemas.microsoft.com/office/powerpoint/2010/main" val="9062956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D72BBA-471A-4063-886A-1B6F2ED8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DFEB2-8371-43C6-8409-9C69CFAB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233F"/>
                </a:solidFill>
                <a:latin typeface="Arial"/>
                <a:ea typeface="Arial"/>
                <a:cs typeface="Arial"/>
              </a:rPr>
              <a:t>O projeto entrou em uma janela concreta de decisão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E29FA-7F5C-4219-A256-97B1307B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0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B75"/>
                </a:solidFill>
                <a:latin typeface="Arial"/>
                <a:ea typeface="Arial"/>
                <a:cs typeface="Arial"/>
              </a:rPr>
              <a:t>BIOQAV • WCE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9119C-1925-48EF-A12C-2A62D6A7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B2769-8ECF-4948-BE89-0D2A0E9F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B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E12D13-4445-43B5-8DE0-9ED90546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1526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6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96CD9-2E61-407E-91C7-66A128AF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CONFIRMADO PUBLICAMENTE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3E5ADE-21F1-45B0-A796-B12562A0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3825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3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233F"/>
                </a:solidFill>
                <a:latin typeface="Arial"/>
                <a:ea typeface="Arial"/>
                <a:cs typeface="Arial"/>
              </a:rPr>
              <a:t>Rota HEFA na RPBC e decisão final de investimento aprovada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9E74FD-E260-4AC7-BD96-A783C58C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371850" cy="280035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0B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BD646-23EA-42A2-B3BF-27066A78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US$ 1,2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9FE392-9D9D-4F66-897C-B21A097E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DDCE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9DDCE1"/>
                </a:solidFill>
                <a:latin typeface="Arial"/>
                <a:ea typeface="Arial"/>
                <a:cs typeface="Arial"/>
              </a:rPr>
              <a:t>bilhão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FBE57F-4BAF-41F6-BA51-DFA9971C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62350"/>
            <a:ext cx="266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7E5E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7E5EE"/>
                </a:solidFill>
                <a:latin typeface="Arial"/>
                <a:ea typeface="Arial"/>
                <a:cs typeface="Arial"/>
              </a:rPr>
              <a:t>Valor informado como montante cobrado pela Tenenge para o projeto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E17AD2-09E5-4BA0-A53C-E9069FAD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62300"/>
            <a:ext cx="619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5673C5-9CF9-4AF5-AE60-321B3F36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43225"/>
            <a:ext cx="4762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C23BD1-9061-4B61-B62F-C186EB09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00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73F48E-972F-44C3-82F6-FEA08CE5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71875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233F"/>
                </a:solidFill>
                <a:latin typeface="Arial"/>
                <a:ea typeface="Arial"/>
                <a:cs typeface="Arial"/>
              </a:rPr>
              <a:t>19/06/2026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6345CD-1E13-4FF2-81A4-EE34F75B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9147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FID aprovado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D18918-4822-4323-BFE6-2A870646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3053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F-010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C7CA6B-6982-4947-A7FC-BE079C87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43225"/>
            <a:ext cx="4762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64987C-35FE-4252-8636-C034D3E0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00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78E9AB-C376-4ACC-9598-092A204B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71875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233F"/>
                </a:solidFill>
                <a:latin typeface="Arial"/>
                <a:ea typeface="Arial"/>
                <a:cs typeface="Arial"/>
              </a:rPr>
              <a:t>Dez/2026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6C6A92-47D9-475D-B892-BCE36366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9147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Marco de início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948D3C-513A-456D-BC1A-E56DDCF9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053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F-017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529CB0-7BF9-41F7-A376-E28695E9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43225"/>
            <a:ext cx="4762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73A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9ADA80-FAC6-4251-A0D6-C16B1BE4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00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09F860-B90C-4A39-B101-390B3442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71875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233F"/>
                </a:solidFill>
                <a:latin typeface="Arial"/>
                <a:ea typeface="Arial"/>
                <a:cs typeface="Arial"/>
              </a:rPr>
              <a:t>2030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DE6F1B-1811-46FC-8A4D-86293944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Operação prevista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32BD7A-43A8-4618-95DC-F89E709C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053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3A5E"/>
                </a:solidFill>
                <a:latin typeface="Arial"/>
                <a:ea typeface="Arial"/>
                <a:cs typeface="Arial"/>
              </a:rPr>
              <a:t>F-010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9F3C06-E2C4-4D98-BA9F-9AE474AB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E4C16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764A61-BE7E-4C46-B0E4-E0AB2B74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1040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A4B1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A4B12"/>
                </a:solidFill>
                <a:latin typeface="Arial"/>
                <a:ea typeface="Arial"/>
                <a:cs typeface="Arial"/>
              </a:rPr>
              <a:t>O valor não representa o escopo, o contrato ou o faturamento potencial da WCE. A documentação primária do EPC ainda deve ser obtida.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0531BB-1DAE-49F8-AFDD-A7C33FA1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Material confidencial para discussão  |  Fontes: F-009, F-010, F-011 e F-017</a:t>
            </a:r>
          </a:p>
        </p:txBody>
      </p:sp>
    </p:spTree>
    <p:extLst>
      <p:ext uri="{BB962C8B-B14F-4D97-AF65-F5344CB8AC3E}">
        <p14:creationId xmlns:p14="http://schemas.microsoft.com/office/powerpoint/2010/main" val="20378903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2880AE-6838-4E18-B6C8-430666D8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1AAE8-0E70-49A8-BFF6-C8173C22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233F"/>
                </a:solidFill>
                <a:latin typeface="Arial"/>
                <a:ea typeface="Arial"/>
                <a:cs typeface="Arial"/>
              </a:rPr>
              <a:t>A entrada da WCE será desenvolvida por meio do EPC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537BB-7C1F-46D2-9AA4-9DB309C0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0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B75"/>
                </a:solidFill>
                <a:latin typeface="Arial"/>
                <a:ea typeface="Arial"/>
                <a:cs typeface="Arial"/>
              </a:rPr>
              <a:t>BIOQAV • WCE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CCBF4-8B90-403F-927A-89393701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28B6A-41F6-4B07-A76B-75360F6C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B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DE8B1-6A8C-491D-A556-058EBEF5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83D9B0-ECC6-435E-852D-5BD41D72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381125"/>
            <a:ext cx="1040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Existe um Agency Agreement específico entre R2 e WCE para esta oportunidade.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46498-5520-439D-BC2E-1FCF5D10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289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C566BA-D27D-48CF-994F-8FB91166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289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9476C-7348-45E6-94C7-19041396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28575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B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B56AF6-7283-48C5-894B-B0F88019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5270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Petrobras / RPBC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3131E2-8239-46B5-B4AB-1E6D740D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7E5E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E5EE"/>
                </a:solidFill>
                <a:latin typeface="Arial"/>
                <a:ea typeface="Arial"/>
                <a:cs typeface="Arial"/>
              </a:rPr>
              <a:t>Cliente final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688BAD-A32F-4C0D-B3CC-F7175FA4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47900"/>
            <a:ext cx="28575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E5200C-B1B6-404D-A47B-40BF5955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5270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Consórcio BioQAV PTU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74F154-A825-4B78-A8C6-8EAA62E5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242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7E5E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E5EE"/>
                </a:solidFill>
                <a:latin typeface="Arial"/>
                <a:ea typeface="Arial"/>
                <a:cs typeface="Arial"/>
              </a:rPr>
              <a:t>EPC • Tenenge–OECI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88F3FD-0680-44C9-81F5-B47B52E1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47900"/>
            <a:ext cx="28575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73A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7A8B47-FCCE-4A96-BD77-0AFFE54E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5270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EF17F7-A39D-4818-B04A-6C6261B7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242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7E5E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E5EE"/>
                </a:solidFill>
                <a:latin typeface="Arial"/>
                <a:ea typeface="Arial"/>
                <a:cs typeface="Arial"/>
              </a:rPr>
              <a:t>Fabricante potencial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DF3CA8-0A5E-43D1-A058-69CB6087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41719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56F8A0-D514-4B8A-8F99-4CF45E82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196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R2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81CF3D-AAFF-46A8-B518-4FEF8EDB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381500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Interface comercial e aproximação com o EPC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C99D68-B5E9-4D56-A5DB-F4CD3A64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29100"/>
            <a:ext cx="41719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7C5390-A3C8-469D-A596-CE3F6F8D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196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PSA-X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E2539F-079C-44BD-AB25-081934B6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815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Interface técnica brasileira proposta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D79082-ED10-4506-8CBB-0E807A8C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626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23B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23B3B"/>
                </a:solidFill>
                <a:latin typeface="Arial"/>
                <a:ea typeface="Arial"/>
                <a:cs typeface="Arial"/>
              </a:rPr>
              <a:t>Pendente: atualizar o estágio contratual do EPC e confirmar o canal formal de engenharia e suprimentos.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462041-FB2D-498F-BE78-0FD7070E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Material confidencial para discussão  |  Fontes: F-001, F-006 e F-008</a:t>
            </a:r>
          </a:p>
        </p:txBody>
      </p:sp>
    </p:spTree>
    <p:extLst>
      <p:ext uri="{BB962C8B-B14F-4D97-AF65-F5344CB8AC3E}">
        <p14:creationId xmlns:p14="http://schemas.microsoft.com/office/powerpoint/2010/main" val="16061197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481DAAF-17DD-4508-80A1-971CA73A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E8539-8382-4C04-B113-C41B4C30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233F"/>
                </a:solidFill>
                <a:latin typeface="Arial"/>
                <a:ea typeface="Arial"/>
                <a:cs typeface="Arial"/>
              </a:rPr>
              <a:t>A rota HEFA mobiliza uma cadeia ampla de equipamentos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B0704-6019-499E-98C4-020E155B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0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B75"/>
                </a:solidFill>
                <a:latin typeface="Arial"/>
                <a:ea typeface="Arial"/>
                <a:cs typeface="Arial"/>
              </a:rPr>
              <a:t>BIOQAV • WCE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FF562C-465F-4813-B567-0AEF9ED2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33E35-8895-4235-BBDD-41B0BBBD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B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E8F330-9D2A-4047-99EA-6A969CC6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400300"/>
            <a:ext cx="342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FB31D8-8641-4C5A-BD30-627ADE27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00300"/>
            <a:ext cx="342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D1762-0982-4F1E-B77E-AEAABE25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400300"/>
            <a:ext cx="342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CD1C13-967E-435E-9F19-F335D194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00300"/>
            <a:ext cx="342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D417FD-1E87-45E7-A545-247B9043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400300"/>
            <a:ext cx="342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492A5A-9BAF-4E86-A811-47CA30BD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1495425" cy="22479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AA4E5-45E5-4E04-9B9C-F7ADCE04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14954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E7ED90-9292-4F8C-8D7D-6F7B499C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C892F1-00DE-49C7-808B-311E43BA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12287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33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33F"/>
                </a:solidFill>
                <a:latin typeface="Arial"/>
                <a:ea typeface="Arial"/>
                <a:cs typeface="Arial"/>
              </a:rPr>
              <a:t>Recebimento</a:t>
            </a:r>
          </a:p>
          <a:p xmlns:a="http://schemas.openxmlformats.org/drawingml/2006/main">
            <a:pPr algn="ctr">
              <a:defRPr sz="1575" b="1">
                <a:solidFill>
                  <a:srgbClr val="0B233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33F"/>
                </a:solidFill>
                <a:latin typeface="Arial"/>
                <a:ea typeface="Arial"/>
                <a:cs typeface="Arial"/>
              </a:rPr>
              <a:t>e armazenagem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AE358B-EA0D-46E5-BB49-C3031BBF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13430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802A4B-0566-4003-BEB0-47E0131B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12287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3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33F"/>
                </a:solidFill>
                <a:latin typeface="Arial"/>
                <a:ea typeface="Arial"/>
                <a:cs typeface="Arial"/>
              </a:rPr>
              <a:t>Recebimento</a:t>
            </a:r>
          </a:p>
          <a:p xmlns:a="http://schemas.openxmlformats.org/drawingml/2006/main">
            <a:pPr algn="ctr">
              <a:defRPr sz="1350" b="1">
                <a:solidFill>
                  <a:srgbClr val="0B23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33F"/>
                </a:solidFill>
                <a:latin typeface="Arial"/>
                <a:ea typeface="Arial"/>
                <a:cs typeface="Arial"/>
              </a:rPr>
              <a:t>e armazenagem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2CB936-2FF5-4867-AEDE-49C3C09B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1228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Tanques • aquecimento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33FA13-B03F-42C4-92B7-DF178DEE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828800"/>
            <a:ext cx="1495425" cy="22479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EAF0F4"/>
          </a:solidFill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198763-263C-46E3-A075-8A53EB95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828800"/>
            <a:ext cx="14954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1F6457-F1D5-49EB-A5F9-625E59E6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19050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E29B8A-BD26-4DF4-9A5B-E3E7AB27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419350"/>
            <a:ext cx="12287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33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33F"/>
                </a:solidFill>
                <a:latin typeface="Arial"/>
                <a:ea typeface="Arial"/>
                <a:cs typeface="Arial"/>
              </a:rPr>
              <a:t>Pré-tratamento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5FA1DB-7F08-48DD-BE1B-F21FBE45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343150"/>
            <a:ext cx="13430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A36C03-7A4D-4BEC-B3A0-A7AA2D9E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419350"/>
            <a:ext cx="12287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3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33F"/>
                </a:solidFill>
                <a:latin typeface="Arial"/>
                <a:ea typeface="Arial"/>
                <a:cs typeface="Arial"/>
              </a:rPr>
              <a:t>Pré-tratamento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0AD9EA-E399-48DB-B223-EF9F1630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505200"/>
            <a:ext cx="1228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Filtros • vasos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AC6813-E668-45EF-B452-690BFFF1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28800"/>
            <a:ext cx="1495425" cy="22479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933BA9-626A-4DF2-8394-B2335B3B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28800"/>
            <a:ext cx="14954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8C4141-5609-4FC8-8FCA-D13DDDEA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050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F34156-9493-496E-89C8-695F9816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19350"/>
            <a:ext cx="12287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33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33F"/>
                </a:solidFill>
                <a:latin typeface="Arial"/>
                <a:ea typeface="Arial"/>
                <a:cs typeface="Arial"/>
              </a:rPr>
              <a:t>Conversão</a:t>
            </a:r>
          </a:p>
          <a:p xmlns:a="http://schemas.openxmlformats.org/drawingml/2006/main">
            <a:pPr algn="ctr">
              <a:defRPr sz="1575" b="1">
                <a:solidFill>
                  <a:srgbClr val="0B233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33F"/>
                </a:solidFill>
                <a:latin typeface="Arial"/>
                <a:ea typeface="Arial"/>
                <a:cs typeface="Arial"/>
              </a:rPr>
              <a:t>HEFA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93D49D-A3EB-445B-B0BD-F0ACFE1B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13430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2B1249-73C4-4291-82CF-A7C95C16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19350"/>
            <a:ext cx="12287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3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33F"/>
                </a:solidFill>
                <a:latin typeface="Arial"/>
                <a:ea typeface="Arial"/>
                <a:cs typeface="Arial"/>
              </a:rPr>
              <a:t>Conversão</a:t>
            </a:r>
          </a:p>
          <a:p xmlns:a="http://schemas.openxmlformats.org/drawingml/2006/main">
            <a:pPr algn="ctr">
              <a:defRPr sz="1350" b="1">
                <a:solidFill>
                  <a:srgbClr val="0B23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33F"/>
                </a:solidFill>
                <a:latin typeface="Arial"/>
                <a:ea typeface="Arial"/>
                <a:cs typeface="Arial"/>
              </a:rPr>
              <a:t>HEFA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93FDFD-7E0A-4D18-8FE2-48C18F21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05200"/>
            <a:ext cx="1228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Reatores • trocadores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2208D5-5532-4473-988D-4E379C6F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28800"/>
            <a:ext cx="1495425" cy="22479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EAF0F4"/>
          </a:solidFill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D7F4C3-7124-4288-8A0D-50EDD59C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28800"/>
            <a:ext cx="14954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80BB44-66B5-42BA-9F16-7D62DC3D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9050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6790F6-F389-4DE9-9D2F-2966DA18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419350"/>
            <a:ext cx="12287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33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33F"/>
                </a:solidFill>
                <a:latin typeface="Arial"/>
                <a:ea typeface="Arial"/>
                <a:cs typeface="Arial"/>
              </a:rPr>
              <a:t>Separação e reciclo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F7F0A9-F799-4CAB-A74A-626A3A36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43150"/>
            <a:ext cx="13430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EF726B-DC00-413E-B33B-2C3182DD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419350"/>
            <a:ext cx="12287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3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33F"/>
                </a:solidFill>
                <a:latin typeface="Arial"/>
                <a:ea typeface="Arial"/>
                <a:cs typeface="Arial"/>
              </a:rPr>
              <a:t>Separação e reciclo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47C8B6-C032-4914-A269-3A2B0146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505200"/>
            <a:ext cx="1228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Flash • H₂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7BF6A1-B5D3-45BC-9F84-B49381DB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28800"/>
            <a:ext cx="1495425" cy="22479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DE40A3-EFE0-4CC4-AFEB-4EBAB089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28800"/>
            <a:ext cx="14954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08353D-0CB0-40BC-ABCE-E3EEF26D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050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10013A-3206-4ABD-8C51-CFA490B2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19350"/>
            <a:ext cx="12287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33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33F"/>
                </a:solidFill>
                <a:latin typeface="Arial"/>
                <a:ea typeface="Arial"/>
                <a:cs typeface="Arial"/>
              </a:rPr>
              <a:t>Isomerização /</a:t>
            </a:r>
          </a:p>
          <a:p xmlns:a="http://schemas.openxmlformats.org/drawingml/2006/main">
            <a:pPr algn="ctr">
              <a:defRPr sz="1575" b="1">
                <a:solidFill>
                  <a:srgbClr val="0B233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33F"/>
                </a:solidFill>
                <a:latin typeface="Arial"/>
                <a:ea typeface="Arial"/>
                <a:cs typeface="Arial"/>
              </a:rPr>
              <a:t>hidrocracking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1F988E-6CD1-43FC-9471-B5269320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43150"/>
            <a:ext cx="13430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8207E6-053F-4B3D-9745-B118A24F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19350"/>
            <a:ext cx="12287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3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33F"/>
                </a:solidFill>
                <a:latin typeface="Arial"/>
                <a:ea typeface="Arial"/>
                <a:cs typeface="Arial"/>
              </a:rPr>
              <a:t>Isomerização /</a:t>
            </a:r>
          </a:p>
          <a:p xmlns:a="http://schemas.openxmlformats.org/drawingml/2006/main">
            <a:pPr algn="ctr">
              <a:defRPr sz="1350" b="1">
                <a:solidFill>
                  <a:srgbClr val="0B23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33F"/>
                </a:solidFill>
                <a:latin typeface="Arial"/>
                <a:ea typeface="Arial"/>
                <a:cs typeface="Arial"/>
              </a:rPr>
              <a:t>hidrocracking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34DFB66-A0C5-485F-8317-42C3A2DB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05200"/>
            <a:ext cx="1228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Reatores • resfriamento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C0C1BE-9D05-4BFE-8BA3-59057FFA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828800"/>
            <a:ext cx="1495425" cy="22479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EAF0F4"/>
          </a:solidFill>
          <a:ln xmlns:a="http://schemas.openxmlformats.org/drawingml/2006/main" w="9525">
            <a:solidFill>
              <a:srgbClr val="C9D2D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5D0687-63B0-4B95-9DB8-5518B8CB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828800"/>
            <a:ext cx="14954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9D2D9C9-5C2C-42FD-9215-7302080B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9050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AC668B7-0F26-4D0F-A25B-EF2AED2B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419350"/>
            <a:ext cx="12287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33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33F"/>
                </a:solidFill>
                <a:latin typeface="Arial"/>
                <a:ea typeface="Arial"/>
                <a:cs typeface="Arial"/>
              </a:rPr>
              <a:t>Fracionamento</a:t>
            </a:r>
          </a:p>
          <a:p xmlns:a="http://schemas.openxmlformats.org/drawingml/2006/main">
            <a:pPr algn="ctr">
              <a:defRPr sz="1575" b="1">
                <a:solidFill>
                  <a:srgbClr val="0B233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33F"/>
                </a:solidFill>
                <a:latin typeface="Arial"/>
                <a:ea typeface="Arial"/>
                <a:cs typeface="Arial"/>
              </a:rPr>
              <a:t>e produtos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38E8A6E-20A2-464C-B024-E5F667B4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343150"/>
            <a:ext cx="13430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13E97AC-088D-41F4-8B14-EAE76C11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419350"/>
            <a:ext cx="12287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3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33F"/>
                </a:solidFill>
                <a:latin typeface="Arial"/>
                <a:ea typeface="Arial"/>
                <a:cs typeface="Arial"/>
              </a:rPr>
              <a:t>Fracionamento</a:t>
            </a:r>
          </a:p>
          <a:p xmlns:a="http://schemas.openxmlformats.org/drawingml/2006/main">
            <a:pPr algn="ctr">
              <a:defRPr sz="1350" b="1">
                <a:solidFill>
                  <a:srgbClr val="0B23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33F"/>
                </a:solidFill>
                <a:latin typeface="Arial"/>
                <a:ea typeface="Arial"/>
                <a:cs typeface="Arial"/>
              </a:rPr>
              <a:t>e produtos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26D8C26-BC0F-46DE-B688-925870AE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505200"/>
            <a:ext cx="1228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Colunas • tanques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CE53A03-D2A5-4E26-97A6-315B9A76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9525">
            <a:solidFill>
              <a:srgbClr val="A8DDE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F01D9DD-A214-4D0E-A518-C03277FF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Equipamentos prováveis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3C7CA15-E4FF-45D3-A686-353D8FF6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1036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Tanques • filtros • vasos • reatores • trocadores • resfriadores • separadores • equipamentos de hidrogênio • colunas • reboilers • condensadores • módulos skid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BABDBAE-17A4-4192-B9E6-1DBA92A5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10629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5DD76A3-2A74-4BD9-B383-D558768F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Equipamentos prováveis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850726C-E254-45FF-86A8-A5BD6B4E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1036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Tanques • filtros • vasos • reatores • trocadores • resfriadores • separadores • equipamentos de hidrogênio • colunas • reboilers • condensadores • módulos skid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FACBFDE-CF7E-45A5-B30D-BBFB186D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34050"/>
            <a:ext cx="1021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23B3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23B3B"/>
                </a:solidFill>
                <a:latin typeface="Arial"/>
                <a:ea typeface="Arial"/>
                <a:cs typeface="Arial"/>
              </a:rPr>
              <a:t>Representação geral da rota HEFA; não corresponde ao fluxograma definitivo do EPC.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CE6919A-AD78-4D3E-AFF4-C4D67330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Material confidencial para discussão  |  Fontes: F-009 a F-014</a:t>
            </a:r>
          </a:p>
        </p:txBody>
      </p:sp>
    </p:spTree>
    <p:extLst>
      <p:ext uri="{BB962C8B-B14F-4D97-AF65-F5344CB8AC3E}">
        <p14:creationId xmlns:p14="http://schemas.microsoft.com/office/powerpoint/2010/main" val="14377057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0EBEF9-786C-4D79-B947-87A7A0EC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DCEFAD-92BB-4D98-A79E-484B22D2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233F"/>
                </a:solidFill>
                <a:latin typeface="Arial"/>
                <a:ea typeface="Arial"/>
                <a:cs typeface="Arial"/>
              </a:rPr>
              <a:t>O portfólio WCE apresenta aderência preliminar relevante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EA4F4-0FC6-4FB2-B2D2-88C48BFC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0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B75"/>
                </a:solidFill>
                <a:latin typeface="Arial"/>
                <a:ea typeface="Arial"/>
                <a:cs typeface="Arial"/>
              </a:rPr>
              <a:t>BIOQAV • WCE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E4F57-3BA8-4285-B9CE-DD4B21D3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1D9E3-CAD6-4CC7-A365-C2D21B7A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B7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7C907A-3AD9-41C7-BC8C-68CB051A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762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CD0AEE-A2B6-4522-B1FB-418731BE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295400"/>
            <a:ext cx="762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837EC0-0D84-459A-917E-68A5B560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14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MAIOR ADERÊNCIA DOCUMENTAL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63C188-4E78-439F-AFD6-68E5D49C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314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EXIGE CONFIRMAÇÃO DE ESCOPO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8E2D45-8CDE-4CCC-91CB-75221341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9775"/>
            <a:ext cx="1714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161224-3E95-4E8C-B07C-44BE3FE0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52625"/>
            <a:ext cx="426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Reatores de hidrogenação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9B89DD-13D7-472A-9753-64D12C98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38425"/>
            <a:ext cx="1714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8D7DDA-2CB2-4FB5-AC23-71D6243E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81275"/>
            <a:ext cx="426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Trocadores de carga, alta pressão e resfriamento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1ADAAC-E14F-496C-BA5D-141FE0D1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67075"/>
            <a:ext cx="1714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160613-80CD-45DE-A04E-47001080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09925"/>
            <a:ext cx="426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Vasos de pressão e separadores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86C3AC-C251-43AD-9776-F5BA9F53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95725"/>
            <a:ext cx="1714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A8CFB1-665F-4DDC-B79E-F726AFDD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38575"/>
            <a:ext cx="426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Colunas, reboilers e condensadores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9EBBF1-0F29-4F59-BEC0-81064489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24375"/>
            <a:ext cx="1714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F38893-A4CC-40C4-85AA-2758B441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67225"/>
            <a:ext cx="426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Módulos e skids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E7D4EE-95CB-4610-9093-EAF3F3B3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09775"/>
            <a:ext cx="1714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7C0057-8629-490D-B490-D7E74BD4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52625"/>
            <a:ext cx="426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Tanques atmosféricos ou aquecidos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E6185C-FBED-4ADE-BC49-C8D4F3B8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38425"/>
            <a:ext cx="1714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37BD55-46A7-49D0-BBFE-B1A11956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81275"/>
            <a:ext cx="426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Filtros e pacote de bleaching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8D1E90-E9A8-4A8A-8249-E79BEB7F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67075"/>
            <a:ext cx="1714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0D162D-6188-4A4C-9D80-1271D641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09925"/>
            <a:ext cx="426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Sistemas associados ao hidrogênio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8D13EB-B05E-4312-99B6-936F651A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95725"/>
            <a:ext cx="1714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37DEC1-FE0F-4295-A929-8863A46A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38575"/>
            <a:ext cx="426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Instrumentação e componentes auxiliares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18DC50-92E3-4037-A787-277668C2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24375"/>
            <a:ext cx="1714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8FC6F5-5435-4A94-AF6E-F1BDC255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67225"/>
            <a:ext cx="426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Limites entre WCE e terceiros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0E97E1-1335-4A3A-9413-705CA789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10200"/>
            <a:ext cx="100965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0B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EBF6E3-9D20-486A-A7A7-5F0E7700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543550"/>
            <a:ext cx="960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Há compatibilidade por famílias; o escopo depende da engenharia e da qualificação do EPC.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608F4A-E71B-4348-8763-432E1477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Material confidencial para discussão  |  Fontes: F-002, F-003, F-005, F-015 e F-016</a:t>
            </a:r>
          </a:p>
        </p:txBody>
      </p:sp>
    </p:spTree>
    <p:extLst>
      <p:ext uri="{BB962C8B-B14F-4D97-AF65-F5344CB8AC3E}">
        <p14:creationId xmlns:p14="http://schemas.microsoft.com/office/powerpoint/2010/main" val="13423310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6541EF-2C9E-48C4-A675-823DF937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505E9-3F60-4844-A559-9B60454D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233F"/>
                </a:solidFill>
                <a:latin typeface="Arial"/>
                <a:ea typeface="Arial"/>
                <a:cs typeface="Arial"/>
              </a:rPr>
              <a:t>A capacidade declarada precisa ser convertida em qualificação para o Brasil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40DDD-96CE-4097-82AA-C6548B84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0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B75"/>
                </a:solidFill>
                <a:latin typeface="Arial"/>
                <a:ea typeface="Arial"/>
                <a:cs typeface="Arial"/>
              </a:rPr>
              <a:t>BIOQAV • WCE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4957F-B406-4608-ACA9-0B48E828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12C6B1-CEA6-444A-8A3F-004CD632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B7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E91F4E-3E40-43FF-B927-79CA6C38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40970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E76E0-3908-4A2C-802B-9B5CBB0D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0970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2D7188-C05C-433B-BEDD-15736BBC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3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233F"/>
                </a:solidFill>
                <a:latin typeface="Arial"/>
                <a:ea typeface="Arial"/>
                <a:cs typeface="Arial"/>
              </a:rPr>
              <a:t>BASE DECLARADA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2E5287-2D11-421A-AE88-7603C405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3525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VALIDAR COM A WCE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9A795C-5C7E-4A43-BE34-4681E39B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3525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OBTER DO EPC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8570F9-1005-4267-B2CD-15F063EB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3143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• 3 plantas industriais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• 40.000 t/ano informadas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• Até Ø7,5 m × 70 m × 800 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• Materiais especiais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• ASME, NBBI e ISO declaradas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DE4C45-82CB-46F4-97AA-6AF82359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66900"/>
            <a:ext cx="3143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• Responsáveis técnico e comercial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• Certificações vigentes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• Capacidade disponível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• Limites de fabricação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• Auditoria e documentação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445D89-6788-468A-9033-0512B1A0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3143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• Fluxograma e lista de equipamentos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• Especificações e limites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• Cronograma de compras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• Critérios de qualificação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• Inspeção e logística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345BE6-BEFD-417D-8C0A-BE79BD16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8953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9525">
            <a:solidFill>
              <a:srgbClr val="A8DD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6A7868-FEF7-4E80-9D15-600AEC80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PSA-X — papel proposto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CF3EA1-6354-4C63-BB3C-E049621F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8160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33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33F"/>
                </a:solidFill>
                <a:latin typeface="Arial"/>
                <a:ea typeface="Arial"/>
                <a:cs typeface="Arial"/>
              </a:rPr>
              <a:t>Interface técnica brasileira • apoio documental • estruturação da adequação relacionada à NR-13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B29ACB-82C1-407B-BE7B-4EFDF9EE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5626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23B3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23B3B"/>
                </a:solidFill>
                <a:latin typeface="Arial"/>
                <a:ea typeface="Arial"/>
                <a:cs typeface="Arial"/>
              </a:rPr>
              <a:t>Não se declara que a WCE já atende integralmente à NR-13.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FAAA3C-5A67-47D4-A52A-F31E24F9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Material confidencial para discussão  |  Fontes: F-002, F-008 e F-015</a:t>
            </a:r>
          </a:p>
        </p:txBody>
      </p:sp>
    </p:spTree>
    <p:extLst>
      <p:ext uri="{BB962C8B-B14F-4D97-AF65-F5344CB8AC3E}">
        <p14:creationId xmlns:p14="http://schemas.microsoft.com/office/powerpoint/2010/main" val="16222373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40A48B-7A7A-4F34-94AB-A4F58B68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92FF2-DC0B-4CA8-A468-0E527E88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233F"/>
                </a:solidFill>
                <a:latin typeface="Arial"/>
                <a:ea typeface="Arial"/>
                <a:cs typeface="Arial"/>
              </a:rPr>
              <a:t>A decisão agora é iniciar a qualificação conjunta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27FB0-52E3-4F39-8FDD-DE4CD75C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0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B75"/>
                </a:solidFill>
                <a:latin typeface="Arial"/>
                <a:ea typeface="Arial"/>
                <a:cs typeface="Arial"/>
              </a:rPr>
              <a:t>BIOQAV • WCE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1DD3C-20E1-45A9-8DD4-74149E80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B5A76-E12F-48CC-BCEF-D067C877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B7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3B100-7B8B-4C0D-B8D1-EF9A2411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DECISÃO NESTA REUNIÃO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F82A71-01E3-4269-A1FA-5FF70DFD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4000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6F4EC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3FA9F-8285-4CC5-A332-3112E496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CE9DA-0298-40F5-9F33-077835D4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233F"/>
                </a:solidFill>
                <a:latin typeface="Arial"/>
                <a:ea typeface="Arial"/>
                <a:cs typeface="Arial"/>
              </a:rPr>
              <a:t>Confirmar interesse na oportunidade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B702E8-20CC-4421-BCF7-5BC5ED8A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4000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6F4EC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C14562-481F-4AEE-8A98-2012CB1A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30A1E0-B66A-43DA-984C-B2832949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908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233F"/>
                </a:solidFill>
                <a:latin typeface="Arial"/>
                <a:ea typeface="Arial"/>
                <a:cs typeface="Arial"/>
              </a:rPr>
              <a:t>Indicar responsáveis técnico e comercial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AA6225-9710-4E42-9F83-9014AD76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4000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6F4EC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2553AD-6FBA-4EF2-9162-E5942798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0059B1-9686-4A53-8A5D-24814D7D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2427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233F"/>
                </a:solidFill>
                <a:latin typeface="Arial"/>
                <a:ea typeface="Arial"/>
                <a:cs typeface="Arial"/>
              </a:rPr>
              <a:t>Selecionar as famílias a avaliar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89ABF5-46B4-42FA-BB17-C72BF52B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295400"/>
            <a:ext cx="9525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5D8ED7-38BB-4577-8637-80A842FF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525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233F"/>
                </a:solidFill>
                <a:latin typeface="Arial"/>
                <a:ea typeface="Arial"/>
                <a:cs typeface="Arial"/>
              </a:rPr>
              <a:t>SEQUÊNCIA PROPOSTA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7D9488-A2ED-455E-8877-90BC99C6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4000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797A1D-5250-49EE-8121-6DCA7B0C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050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8D59FB-36DE-415C-AE00-7C3EDBB3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859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Interesse da WCE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92888E-F18C-428D-ABD5-F46928B8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955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A68682-CDE4-4031-8AA3-6C2C124B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52700"/>
            <a:ext cx="4000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3A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4FB54D-4CC4-410D-BDCC-F5935BE4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717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79FB44-D89C-4D01-8A25-2A5D4FFB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527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Documentação do EPC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B2B5F8-3924-4DD9-8F21-7A501A0A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622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F189A5-F89E-48F2-9921-95636E16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19450"/>
            <a:ext cx="4000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3A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638897-E1D9-42F2-B65D-DCE020BF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385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EE5FD6-5AC1-4E34-BA2A-88D5E86A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194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Matriz técnica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262681-6217-4EED-A2EC-805809E0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290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050316-7CFC-4BC1-B05F-54DC33A3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86200"/>
            <a:ext cx="4000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3A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F79796-EC34-40A0-ADE8-6405B92F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052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90219B-09AF-4962-873B-405D1385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862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Pacotes preliminares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5C10B3-D806-4304-B5F9-7950B7A3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957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6C24AC-F199-446F-A1D6-D03C603A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52950"/>
            <a:ext cx="4000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3A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AF2658-5A8A-4ED4-891B-83CB9481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720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898EC4-627C-491C-BE9D-70428977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529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Decisão de cotar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97A089-7240-44E4-9CB8-7A504B58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0B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289468-56EC-4F3D-AC1E-E6B54CFF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768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oportunidade é relevante e apresenta aderência preliminar. O próximo passo é qualificar — não assumir o fornecimento.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D8BD0B-4CBF-4E9C-8980-20F17F70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Material confidencial para discussão  |  Fontes: F-001 a F-017, conforme indicado nos slides</a:t>
            </a:r>
          </a:p>
        </p:txBody>
      </p:sp>
    </p:spTree>
    <p:extLst>
      <p:ext uri="{BB962C8B-B14F-4D97-AF65-F5344CB8AC3E}">
        <p14:creationId xmlns:p14="http://schemas.microsoft.com/office/powerpoint/2010/main" val="13084482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2026-07-20T14:20:53.4610000Z</dcterms:created>
  <dcterms:modified xsi:type="dcterms:W3CDTF">2026-07-20T14:20:53.4610000Z</dcterms:modified>
</coreProperties>
</file>