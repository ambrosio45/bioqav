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57a120f0a34041" /><Relationship Type="http://schemas.openxmlformats.org/officeDocument/2006/relationships/extended-properties" Target="/docProps/app.xml" Id="R4ea62f2cda954abb" /><Relationship Type="http://schemas.openxmlformats.org/officeDocument/2006/relationships/officeDocument" Target="/ppt/presentation.xml" Id="Rdfda5490e9f740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57b309bf914067"/>
  </p:sldMasterIdLst>
  <p:notesMasterIdLst>
    <p:notesMasterId xmlns:r="http://schemas.openxmlformats.org/officeDocument/2006/relationships" r:id="R84e1127558214587"/>
  </p:notesMasterIdLst>
  <p:sldIdLst>
    <p:sldId xmlns:r="http://schemas.openxmlformats.org/officeDocument/2006/relationships" id="256" r:id="Rcd8f9a3065644e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865d3055be4c4e" /><Relationship Type="http://schemas.openxmlformats.org/officeDocument/2006/relationships/slideMaster" Target="/ppt/slideMasters/slideMaster1.xml" Id="Rc057b309bf914067" /><Relationship Type="http://schemas.openxmlformats.org/officeDocument/2006/relationships/notesMaster" Target="/ppt/notesMasters/notesMaster1.xml" Id="R84e1127558214587" /><Relationship Type="http://schemas.openxmlformats.org/officeDocument/2006/relationships/presProps" Target="/ppt/presProps.xml" Id="R15ac4210504d4dfd" /><Relationship Type="http://schemas.openxmlformats.org/officeDocument/2006/relationships/tableStyles" Target="/ppt/tableStyles.xml" Id="R8d2e4dfe71b94268" /><Relationship Type="http://schemas.openxmlformats.org/officeDocument/2006/relationships/slide" Target="/ppt/slides/slide1.xml" Id="Rcd8f9a3065644e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1c94a5ba7845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2a4eeaa1e547fa" /><Relationship Type="http://schemas.openxmlformats.org/officeDocument/2006/relationships/notesMaster" Target="/ppt/notesMasters/notesMaster1.xml" Id="Re00670133adf4b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60224cd7e4b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fddf7bd6514783" /><Relationship Type="http://schemas.openxmlformats.org/officeDocument/2006/relationships/slideLayout" Target="/ppt/slideLayouts/slideLayout1.xml" Id="R840a63810b5944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0a63810b5944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d6bc611404da0" /><Relationship Type="http://schemas.openxmlformats.org/officeDocument/2006/relationships/notesSlide" Target="/ppt/notesSlides/notesSlide1.xml" Id="R9f9d93753a1b46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imeline-left">
            <a:extLst xmlns:a="http://schemas.openxmlformats.org/drawingml/2006/main">
              <a:ext uri="{FF2B5EF4-FFF2-40B4-BE49-F238E27FC236}">
                <a16:creationId xmlns:a16="http://schemas.microsoft.com/office/drawing/2014/main" id="{DCE31E54-0EB6-47FB-AC1A-9EE2FD52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238250"/>
            <a:ext cx="2676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653"/>
          </a:solidFill>
          <a:ln xmlns:a="http://schemas.openxmlformats.org/drawingml/2006/main" w="0">
            <a:solidFill>
              <a:srgbClr val="0B3653"/>
            </a:solidFill>
            <a:prstDash val="solid"/>
          </a:ln>
        </p:spPr>
      </p:sp>
      <p:sp>
        <p:nvSpPr>
          <p:cNvPr id="2" name="timeline-right">
            <a:extLst xmlns:a="http://schemas.openxmlformats.org/drawingml/2006/main">
              <a:ext uri="{FF2B5EF4-FFF2-40B4-BE49-F238E27FC236}">
                <a16:creationId xmlns:a16="http://schemas.microsoft.com/office/drawing/2014/main" id="{637317C3-B7DC-4A07-9114-55F1CB2F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38250"/>
            <a:ext cx="2676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333"/>
          </a:solidFill>
          <a:ln xmlns:a="http://schemas.openxmlformats.org/drawingml/2006/main" w="0">
            <a:solidFill>
              <a:srgbClr val="178333"/>
            </a:solidFill>
            <a:prstDash val="solid"/>
          </a:ln>
        </p:spPr>
      </p:sp>
      <p:sp>
        <p:nvSpPr>
          <p:cNvPr id="3" name="19/06/2026-outer-ring">
            <a:extLst xmlns:a="http://schemas.openxmlformats.org/drawingml/2006/main">
              <a:ext uri="{FF2B5EF4-FFF2-40B4-BE49-F238E27FC236}">
                <a16:creationId xmlns:a16="http://schemas.microsoft.com/office/drawing/2014/main" id="{D549BE62-C8FF-465D-9036-AB54576C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B3653"/>
            </a:solidFill>
            <a:prstDash val="solid"/>
          </a:ln>
        </p:spPr>
      </p:sp>
      <p:sp>
        <p:nvSpPr>
          <p:cNvPr id="4" name="19/06/2026-accent-dot">
            <a:extLst xmlns:a="http://schemas.openxmlformats.org/drawingml/2006/main">
              <a:ext uri="{FF2B5EF4-FFF2-40B4-BE49-F238E27FC236}">
                <a16:creationId xmlns:a16="http://schemas.microsoft.com/office/drawing/2014/main" id="{80CDFAE6-EA62-422C-8BB7-38CCBD31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859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solidFill>
              <a:srgbClr val="F2B500"/>
            </a:solidFill>
            <a:prstDash val="solid"/>
          </a:ln>
        </p:spPr>
      </p:sp>
      <p:sp>
        <p:nvSpPr>
          <p:cNvPr id="5" name="19/06/2026-symbol">
            <a:extLst xmlns:a="http://schemas.openxmlformats.org/drawingml/2006/main">
              <a:ext uri="{FF2B5EF4-FFF2-40B4-BE49-F238E27FC236}">
                <a16:creationId xmlns:a16="http://schemas.microsoft.com/office/drawing/2014/main" id="{CB0186C9-8C6E-46A5-8854-5226D298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66775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6774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0B3653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0B3653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6" name="19/06/2026-stem">
            <a:extLst xmlns:a="http://schemas.openxmlformats.org/drawingml/2006/main">
              <a:ext uri="{FF2B5EF4-FFF2-40B4-BE49-F238E27FC236}">
                <a16:creationId xmlns:a16="http://schemas.microsoft.com/office/drawing/2014/main" id="{A38FA23C-785B-43E7-8A5F-8B4A0860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0383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653"/>
          </a:solidFill>
          <a:ln xmlns:a="http://schemas.openxmlformats.org/drawingml/2006/main" w="0">
            <a:solidFill>
              <a:srgbClr val="0B3653"/>
            </a:solidFill>
            <a:prstDash val="solid"/>
          </a:ln>
        </p:spPr>
      </p:sp>
      <p:sp>
        <p:nvSpPr>
          <p:cNvPr id="7" name="19/06/2026-stem-dot">
            <a:extLst xmlns:a="http://schemas.openxmlformats.org/drawingml/2006/main">
              <a:ext uri="{FF2B5EF4-FFF2-40B4-BE49-F238E27FC236}">
                <a16:creationId xmlns:a16="http://schemas.microsoft.com/office/drawing/2014/main" id="{7A987955-F7D1-4B5C-B90F-1C679B4A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09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653"/>
          </a:solidFill>
          <a:ln xmlns:a="http://schemas.openxmlformats.org/drawingml/2006/main" w="0">
            <a:solidFill>
              <a:srgbClr val="0B3653"/>
            </a:solidFill>
            <a:prstDash val="solid"/>
          </a:ln>
        </p:spPr>
      </p:sp>
      <p:sp>
        <p:nvSpPr>
          <p:cNvPr id="8" name="19/06/2026-date">
            <a:extLst xmlns:a="http://schemas.openxmlformats.org/drawingml/2006/main">
              <a:ext uri="{FF2B5EF4-FFF2-40B4-BE49-F238E27FC236}">
                <a16:creationId xmlns:a16="http://schemas.microsoft.com/office/drawing/2014/main" id="{8C4E4688-72D9-4D30-9391-1533F86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365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3653"/>
                </a:solidFill>
                <a:latin typeface="Aptos Display"/>
                <a:ea typeface="Aptos Display"/>
                <a:cs typeface="Aptos Display"/>
              </a:rPr>
              <a:t>19/06/2026</a:t>
            </a:r>
          </a:p>
        </p:txBody>
      </p:sp>
      <p:sp>
        <p:nvSpPr>
          <p:cNvPr id="9" name="19/06/2026-underline">
            <a:extLst xmlns:a="http://schemas.openxmlformats.org/drawingml/2006/main">
              <a:ext uri="{FF2B5EF4-FFF2-40B4-BE49-F238E27FC236}">
                <a16:creationId xmlns:a16="http://schemas.microsoft.com/office/drawing/2014/main" id="{65850139-AF66-4FD6-B62B-F38AE527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289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solidFill>
              <a:srgbClr val="F2B500"/>
            </a:solidFill>
            <a:prstDash val="solid"/>
          </a:ln>
        </p:spPr>
      </p:sp>
      <p:sp>
        <p:nvSpPr>
          <p:cNvPr id="10" name="19/06/2026-label">
            <a:extLst xmlns:a="http://schemas.openxmlformats.org/drawingml/2006/main">
              <a:ext uri="{FF2B5EF4-FFF2-40B4-BE49-F238E27FC236}">
                <a16:creationId xmlns:a16="http://schemas.microsoft.com/office/drawing/2014/main" id="{72FB06D6-A6E4-4B49-BC19-DF06AE42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8324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8324A"/>
                </a:solidFill>
                <a:latin typeface="Aptos"/>
                <a:ea typeface="Aptos"/>
                <a:cs typeface="Aptos"/>
              </a:rPr>
              <a:t>Investment approval (FID)</a:t>
            </a:r>
          </a:p>
        </p:txBody>
      </p:sp>
      <p:sp>
        <p:nvSpPr>
          <p:cNvPr id="11" name="DECEMBER 2026-outer-ring">
            <a:extLst xmlns:a="http://schemas.openxmlformats.org/drawingml/2006/main">
              <a:ext uri="{FF2B5EF4-FFF2-40B4-BE49-F238E27FC236}">
                <a16:creationId xmlns:a16="http://schemas.microsoft.com/office/drawing/2014/main" id="{6D32D376-AB87-4C1E-8EAE-535E3B42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43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78333"/>
            </a:solidFill>
            <a:prstDash val="solid"/>
          </a:ln>
        </p:spPr>
      </p:sp>
      <p:sp>
        <p:nvSpPr>
          <p:cNvPr id="12" name="DECEMBER 2026-accent-dot">
            <a:extLst xmlns:a="http://schemas.openxmlformats.org/drawingml/2006/main">
              <a:ext uri="{FF2B5EF4-FFF2-40B4-BE49-F238E27FC236}">
                <a16:creationId xmlns:a16="http://schemas.microsoft.com/office/drawing/2014/main" id="{6DAA6FCC-5CF5-4EA6-999E-FDF51AC8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859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solidFill>
              <a:srgbClr val="F2B500"/>
            </a:solidFill>
            <a:prstDash val="solid"/>
          </a:ln>
        </p:spPr>
      </p:sp>
      <p:sp>
        <p:nvSpPr>
          <p:cNvPr id="13" name="DECEMBER 2026-symbol">
            <a:extLst xmlns:a="http://schemas.openxmlformats.org/drawingml/2006/main">
              <a:ext uri="{FF2B5EF4-FFF2-40B4-BE49-F238E27FC236}">
                <a16:creationId xmlns:a16="http://schemas.microsoft.com/office/drawing/2014/main" id="{D89A9BEA-E51E-4BDB-AA8F-327C0D0A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866775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83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8333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14" name="DECEMBER 2026-stem">
            <a:extLst xmlns:a="http://schemas.openxmlformats.org/drawingml/2006/main">
              <a:ext uri="{FF2B5EF4-FFF2-40B4-BE49-F238E27FC236}">
                <a16:creationId xmlns:a16="http://schemas.microsoft.com/office/drawing/2014/main" id="{26E9A525-F6FB-4FE1-85DE-580412CA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0383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333"/>
          </a:solidFill>
          <a:ln xmlns:a="http://schemas.openxmlformats.org/drawingml/2006/main" w="0">
            <a:solidFill>
              <a:srgbClr val="178333"/>
            </a:solidFill>
            <a:prstDash val="solid"/>
          </a:ln>
        </p:spPr>
      </p:sp>
      <p:sp>
        <p:nvSpPr>
          <p:cNvPr id="15" name="DECEMBER 2026-stem-dot">
            <a:extLst xmlns:a="http://schemas.openxmlformats.org/drawingml/2006/main">
              <a:ext uri="{FF2B5EF4-FFF2-40B4-BE49-F238E27FC236}">
                <a16:creationId xmlns:a16="http://schemas.microsoft.com/office/drawing/2014/main" id="{0625512B-428E-43A1-87EC-599D5C5B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333"/>
          </a:solidFill>
          <a:ln xmlns:a="http://schemas.openxmlformats.org/drawingml/2006/main" w="0">
            <a:solidFill>
              <a:srgbClr val="178333"/>
            </a:solidFill>
            <a:prstDash val="solid"/>
          </a:ln>
        </p:spPr>
      </p:sp>
      <p:sp>
        <p:nvSpPr>
          <p:cNvPr id="16" name="DECEMBER 2026-date">
            <a:extLst xmlns:a="http://schemas.openxmlformats.org/drawingml/2006/main">
              <a:ext uri="{FF2B5EF4-FFF2-40B4-BE49-F238E27FC236}">
                <a16:creationId xmlns:a16="http://schemas.microsoft.com/office/drawing/2014/main" id="{4C37EAA8-37EF-4DD0-90F9-F1776BB0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83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8333"/>
                </a:solidFill>
                <a:latin typeface="Aptos Display"/>
                <a:ea typeface="Aptos Display"/>
                <a:cs typeface="Aptos Display"/>
              </a:rPr>
              <a:t>DECEMBER 2026</a:t>
            </a:r>
          </a:p>
        </p:txBody>
      </p:sp>
      <p:sp>
        <p:nvSpPr>
          <p:cNvPr id="17" name="DECEMBER 2026-underline">
            <a:extLst xmlns:a="http://schemas.openxmlformats.org/drawingml/2006/main">
              <a:ext uri="{FF2B5EF4-FFF2-40B4-BE49-F238E27FC236}">
                <a16:creationId xmlns:a16="http://schemas.microsoft.com/office/drawing/2014/main" id="{64D9C3D7-1496-4687-9344-05AFD90D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289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solidFill>
              <a:srgbClr val="F2B500"/>
            </a:solidFill>
            <a:prstDash val="solid"/>
          </a:ln>
        </p:spPr>
      </p:sp>
      <p:sp>
        <p:nvSpPr>
          <p:cNvPr id="18" name="DECEMBER 2026-label">
            <a:extLst xmlns:a="http://schemas.openxmlformats.org/drawingml/2006/main">
              <a:ext uri="{FF2B5EF4-FFF2-40B4-BE49-F238E27FC236}">
                <a16:creationId xmlns:a16="http://schemas.microsoft.com/office/drawing/2014/main" id="{A83ACBEF-56D7-4C92-8B02-0687F84D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24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8324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8324A"/>
                </a:solidFill>
                <a:latin typeface="Aptos"/>
                <a:ea typeface="Aptos"/>
                <a:cs typeface="Aptos"/>
              </a:rPr>
              <a:t>Planned start of construction</a:t>
            </a:r>
          </a:p>
        </p:txBody>
      </p:sp>
      <p:sp>
        <p:nvSpPr>
          <p:cNvPr id="19" name="DECEMBER 2026-note-dot">
            <a:extLst xmlns:a="http://schemas.openxmlformats.org/drawingml/2006/main">
              <a:ext uri="{FF2B5EF4-FFF2-40B4-BE49-F238E27FC236}">
                <a16:creationId xmlns:a16="http://schemas.microsoft.com/office/drawing/2014/main" id="{E78CCB46-41C8-417C-8259-57F31889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324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333"/>
          </a:solidFill>
          <a:ln xmlns:a="http://schemas.openxmlformats.org/drawingml/2006/main" w="0">
            <a:solidFill>
              <a:srgbClr val="178333"/>
            </a:solidFill>
            <a:prstDash val="solid"/>
          </a:ln>
        </p:spPr>
      </p:sp>
      <p:sp>
        <p:nvSpPr>
          <p:cNvPr id="20" name="DECEMBER 2026-note">
            <a:extLst xmlns:a="http://schemas.openxmlformats.org/drawingml/2006/main">
              <a:ext uri="{FF2B5EF4-FFF2-40B4-BE49-F238E27FC236}">
                <a16:creationId xmlns:a16="http://schemas.microsoft.com/office/drawing/2014/main" id="{33FD6F3C-B063-4BC9-9F27-13721B2D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289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i="1">
                <a:solidFill>
                  <a:srgbClr val="18324A"/>
                </a:solidFill>
                <a:latin typeface="Aptos"/>
                <a:ea typeface="Aptos"/>
                <a:cs typeface="Aptos"/>
              </a:defRPr>
            </a:pPr>
            <a:r>
              <a:rPr sz="1200" i="1">
                <a:solidFill>
                  <a:srgbClr val="18324A"/>
                </a:solidFill>
                <a:latin typeface="Aptos"/>
                <a:ea typeface="Aptos"/>
                <a:cs typeface="Aptos"/>
              </a:rPr>
              <a:t>Petrobras: by the end of 2026</a:t>
            </a:r>
          </a:p>
        </p:txBody>
      </p:sp>
      <p:sp>
        <p:nvSpPr>
          <p:cNvPr id="21" name="2030-outer-ring">
            <a:extLst xmlns:a="http://schemas.openxmlformats.org/drawingml/2006/main">
              <a:ext uri="{FF2B5EF4-FFF2-40B4-BE49-F238E27FC236}">
                <a16:creationId xmlns:a16="http://schemas.microsoft.com/office/drawing/2014/main" id="{9F4496EA-12A1-41C6-A78C-904380FF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B3653"/>
            </a:solidFill>
            <a:prstDash val="solid"/>
          </a:ln>
        </p:spPr>
      </p:sp>
      <p:sp>
        <p:nvSpPr>
          <p:cNvPr id="22" name="2030-accent-dot">
            <a:extLst xmlns:a="http://schemas.openxmlformats.org/drawingml/2006/main">
              <a:ext uri="{FF2B5EF4-FFF2-40B4-BE49-F238E27FC236}">
                <a16:creationId xmlns:a16="http://schemas.microsoft.com/office/drawing/2014/main" id="{9B519304-E7CB-4922-A84A-7A67A9A5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859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solidFill>
              <a:srgbClr val="F2B500"/>
            </a:solidFill>
            <a:prstDash val="solid"/>
          </a:ln>
        </p:spPr>
      </p:sp>
      <p:sp>
        <p:nvSpPr>
          <p:cNvPr id="23" name="2030-symbol">
            <a:extLst xmlns:a="http://schemas.openxmlformats.org/drawingml/2006/main">
              <a:ext uri="{FF2B5EF4-FFF2-40B4-BE49-F238E27FC236}">
                <a16:creationId xmlns:a16="http://schemas.microsoft.com/office/drawing/2014/main" id="{67D566EB-3894-4233-AB40-AB248F94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66775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B3653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0B3653"/>
                </a:solidFill>
                <a:latin typeface="Aptos Display"/>
                <a:ea typeface="Aptos Display"/>
                <a:cs typeface="Aptos Display"/>
              </a:rPr>
              <a:t>▶</a:t>
            </a:r>
          </a:p>
        </p:txBody>
      </p:sp>
      <p:sp>
        <p:nvSpPr>
          <p:cNvPr id="24" name="2030-stem">
            <a:extLst xmlns:a="http://schemas.openxmlformats.org/drawingml/2006/main">
              <a:ext uri="{FF2B5EF4-FFF2-40B4-BE49-F238E27FC236}">
                <a16:creationId xmlns:a16="http://schemas.microsoft.com/office/drawing/2014/main" id="{45DDBEF8-B8E4-46A1-B19A-0DA84F73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0383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653"/>
          </a:solidFill>
          <a:ln xmlns:a="http://schemas.openxmlformats.org/drawingml/2006/main" w="0">
            <a:solidFill>
              <a:srgbClr val="0B3653"/>
            </a:solidFill>
            <a:prstDash val="solid"/>
          </a:ln>
        </p:spPr>
      </p:sp>
      <p:sp>
        <p:nvSpPr>
          <p:cNvPr id="25" name="2030-stem-dot">
            <a:extLst xmlns:a="http://schemas.openxmlformats.org/drawingml/2006/main">
              <a:ext uri="{FF2B5EF4-FFF2-40B4-BE49-F238E27FC236}">
                <a16:creationId xmlns:a16="http://schemas.microsoft.com/office/drawing/2014/main" id="{967FB8AD-72C9-41B3-99E4-4BF0A1F5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09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653"/>
          </a:solidFill>
          <a:ln xmlns:a="http://schemas.openxmlformats.org/drawingml/2006/main" w="0">
            <a:solidFill>
              <a:srgbClr val="0B3653"/>
            </a:solidFill>
            <a:prstDash val="solid"/>
          </a:ln>
        </p:spPr>
      </p:sp>
      <p:sp>
        <p:nvSpPr>
          <p:cNvPr id="26" name="2030-date">
            <a:extLst xmlns:a="http://schemas.openxmlformats.org/drawingml/2006/main">
              <a:ext uri="{FF2B5EF4-FFF2-40B4-BE49-F238E27FC236}">
                <a16:creationId xmlns:a16="http://schemas.microsoft.com/office/drawing/2014/main" id="{AD9A6B29-51FC-4A52-9BA3-2B2E5311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365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3653"/>
                </a:solidFill>
                <a:latin typeface="Aptos Display"/>
                <a:ea typeface="Aptos Display"/>
                <a:cs typeface="Aptos Display"/>
              </a:rPr>
              <a:t>2030</a:t>
            </a:r>
          </a:p>
        </p:txBody>
      </p:sp>
      <p:sp>
        <p:nvSpPr>
          <p:cNvPr id="27" name="2030-underline">
            <a:extLst xmlns:a="http://schemas.openxmlformats.org/drawingml/2006/main">
              <a:ext uri="{FF2B5EF4-FFF2-40B4-BE49-F238E27FC236}">
                <a16:creationId xmlns:a16="http://schemas.microsoft.com/office/drawing/2014/main" id="{02CD2F57-C1F8-4623-99CD-BDDE4CD1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289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solidFill>
              <a:srgbClr val="F2B500"/>
            </a:solidFill>
            <a:prstDash val="solid"/>
          </a:ln>
        </p:spPr>
      </p:sp>
      <p:sp>
        <p:nvSpPr>
          <p:cNvPr id="28" name="2030-label">
            <a:extLst xmlns:a="http://schemas.openxmlformats.org/drawingml/2006/main">
              <a:ext uri="{FF2B5EF4-FFF2-40B4-BE49-F238E27FC236}">
                <a16:creationId xmlns:a16="http://schemas.microsoft.com/office/drawing/2014/main" id="{F76ABC60-9F1D-445D-9047-0A003C67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24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8324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8324A"/>
                </a:solidFill>
                <a:latin typeface="Aptos"/>
                <a:ea typeface="Aptos"/>
                <a:cs typeface="Aptos"/>
              </a:rPr>
              <a:t>Planned start of operations</a:t>
            </a:r>
          </a:p>
        </p:txBody>
      </p:sp>
      <p:sp>
        <p:nvSpPr>
          <p:cNvPr id="29" name="epc-contract-callout">
            <a:extLst xmlns:a="http://schemas.openxmlformats.org/drawingml/2006/main">
              <a:ext uri="{FF2B5EF4-FFF2-40B4-BE49-F238E27FC236}">
                <a16:creationId xmlns:a16="http://schemas.microsoft.com/office/drawing/2014/main" id="{F4B90D70-C979-47EB-89A0-B6A98E9D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7429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4288">
            <a:solidFill>
              <a:srgbClr val="178333"/>
            </a:solidFill>
            <a:prstDash val="solid"/>
          </a:ln>
        </p:spPr>
        <p:txBody>
          <a:bodyPr xmlns:a="http://schemas.openxmlformats.org/drawingml/2006/main" lIns="133350" tIns="38100" rIns="1333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365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3653"/>
                </a:solidFill>
                <a:latin typeface="Aptos Display"/>
                <a:ea typeface="Aptos Display"/>
                <a:cs typeface="Aptos Display"/>
              </a:rPr>
              <a:t>EPC CONTRACT WINNER: BIOQAV PTU CONSORTIUM (</a:t>
            </a:r>
            <a:r>
              <a:rPr sz="1350" b="1">
                <a:solidFill>
                  <a:srgbClr val="178333"/>
                </a:solidFill>
                <a:latin typeface="Aptos Display"/>
                <a:ea typeface="Aptos Display"/>
                <a:cs typeface="Aptos Display"/>
              </a:rPr>
              <a:t>TENENGE–OECI</a:t>
            </a:r>
            <a:r>
              <a:rPr sz="1350" b="1">
                <a:solidFill>
                  <a:srgbClr val="0B3653"/>
                </a:solidFill>
                <a:latin typeface="Aptos Display"/>
                <a:ea typeface="Aptos Display"/>
                <a:cs typeface="Aptos Display"/>
              </a:rPr>
              <a:t>)</a:t>
            </a:r>
          </a:p>
        </p:txBody>
      </p:sp>
      <p:sp>
        <p:nvSpPr>
          <p:cNvPr id="30" name="investment-icon-ring">
            <a:extLst xmlns:a="http://schemas.openxmlformats.org/drawingml/2006/main">
              <a:ext uri="{FF2B5EF4-FFF2-40B4-BE49-F238E27FC236}">
                <a16:creationId xmlns:a16="http://schemas.microsoft.com/office/drawing/2014/main" id="{04339961-4151-4558-A932-B6935A7A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8333"/>
            </a:solidFill>
            <a:prstDash val="solid"/>
          </a:ln>
        </p:spPr>
      </p:sp>
      <p:sp>
        <p:nvSpPr>
          <p:cNvPr id="31" name="investment-icon">
            <a:extLst xmlns:a="http://schemas.openxmlformats.org/drawingml/2006/main">
              <a:ext uri="{FF2B5EF4-FFF2-40B4-BE49-F238E27FC236}">
                <a16:creationId xmlns:a16="http://schemas.microsoft.com/office/drawing/2014/main" id="{A9BFE5A6-F478-4239-BE9D-89C1498F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577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83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8333"/>
                </a:solidFill>
                <a:latin typeface="Aptos"/>
                <a:ea typeface="Aptos"/>
                <a:cs typeface="Aptos"/>
              </a:rPr>
              <a:t>US$</a:t>
            </a:r>
          </a:p>
        </p:txBody>
      </p:sp>
      <p:sp>
        <p:nvSpPr>
          <p:cNvPr id="32" name="investment-value">
            <a:extLst xmlns:a="http://schemas.openxmlformats.org/drawingml/2006/main">
              <a:ext uri="{FF2B5EF4-FFF2-40B4-BE49-F238E27FC236}">
                <a16:creationId xmlns:a16="http://schemas.microsoft.com/office/drawing/2014/main" id="{90C15CEE-08A2-48BF-9226-0E1C8D38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672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83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8333"/>
                </a:solidFill>
                <a:latin typeface="Aptos Display"/>
                <a:ea typeface="Aptos Display"/>
                <a:cs typeface="Aptos Display"/>
              </a:rPr>
              <a:t>US$ 1.2 BILLION</a:t>
            </a:r>
          </a:p>
        </p:txBody>
      </p:sp>
      <p:sp>
        <p:nvSpPr>
          <p:cNvPr id="33" name="investment-accent">
            <a:extLst xmlns:a="http://schemas.openxmlformats.org/drawingml/2006/main">
              <a:ext uri="{FF2B5EF4-FFF2-40B4-BE49-F238E27FC236}">
                <a16:creationId xmlns:a16="http://schemas.microsoft.com/office/drawing/2014/main" id="{8A22DEF3-A63C-4298-86D7-AAA9A376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solidFill>
              <a:srgbClr val="F2B500"/>
            </a:solidFill>
            <a:prstDash val="solid"/>
          </a:ln>
        </p:spPr>
      </p:sp>
      <p:sp>
        <p:nvSpPr>
          <p:cNvPr id="34" name="investment-label">
            <a:extLst xmlns:a="http://schemas.openxmlformats.org/drawingml/2006/main">
              <a:ext uri="{FF2B5EF4-FFF2-40B4-BE49-F238E27FC236}">
                <a16:creationId xmlns:a16="http://schemas.microsoft.com/office/drawing/2014/main" id="{F16D622B-5DF8-4239-AA55-9B4E3FF2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76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8324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8324A"/>
                </a:solidFill>
                <a:latin typeface="Aptos"/>
                <a:ea typeface="Aptos"/>
                <a:cs typeface="Aptos"/>
              </a:rPr>
              <a:t>Estimated project investment</a:t>
            </a:r>
          </a:p>
        </p:txBody>
      </p:sp>
      <p:sp>
        <p:nvSpPr>
          <p:cNvPr id="35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EDE9B547-D11A-4AE8-A67D-262E8675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solidFill>
              <a:srgbClr val="F2B500"/>
            </a:solidFill>
            <a:prstDash val="solid"/>
          </a:ln>
        </p:spPr>
      </p:sp>
      <p:sp>
        <p:nvSpPr>
          <p:cNvPr id="36" name="capacity-icon-ring">
            <a:extLst xmlns:a="http://schemas.openxmlformats.org/drawingml/2006/main">
              <a:ext uri="{FF2B5EF4-FFF2-40B4-BE49-F238E27FC236}">
                <a16:creationId xmlns:a16="http://schemas.microsoft.com/office/drawing/2014/main" id="{0B36A3E1-110F-43F9-900E-A61367F2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76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8333"/>
            </a:solidFill>
            <a:prstDash val="solid"/>
          </a:ln>
        </p:spPr>
      </p:sp>
      <p:sp>
        <p:nvSpPr>
          <p:cNvPr id="37" name="capacity-icon">
            <a:extLst xmlns:a="http://schemas.openxmlformats.org/drawingml/2006/main">
              <a:ext uri="{FF2B5EF4-FFF2-40B4-BE49-F238E27FC236}">
                <a16:creationId xmlns:a16="http://schemas.microsoft.com/office/drawing/2014/main" id="{E5DCF185-1E32-40BB-8100-12557644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577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83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8333"/>
                </a:solidFill>
                <a:latin typeface="Aptos"/>
                <a:ea typeface="Aptos"/>
                <a:cs typeface="Aptos"/>
              </a:rPr>
              <a:t>SAF</a:t>
            </a:r>
          </a:p>
        </p:txBody>
      </p:sp>
      <p:sp>
        <p:nvSpPr>
          <p:cNvPr id="38" name="capacity-value">
            <a:extLst xmlns:a="http://schemas.openxmlformats.org/drawingml/2006/main">
              <a:ext uri="{FF2B5EF4-FFF2-40B4-BE49-F238E27FC236}">
                <a16:creationId xmlns:a16="http://schemas.microsoft.com/office/drawing/2014/main" id="{43A919A3-3655-407C-AF12-33002D4B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672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83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8333"/>
                </a:solidFill>
                <a:latin typeface="Aptos Display"/>
                <a:ea typeface="Aptos Display"/>
                <a:cs typeface="Aptos Display"/>
              </a:rPr>
              <a:t>UP TO 15,000 BPD</a:t>
            </a:r>
          </a:p>
        </p:txBody>
      </p:sp>
      <p:sp>
        <p:nvSpPr>
          <p:cNvPr id="39" name="capacity-accent">
            <a:extLst xmlns:a="http://schemas.openxmlformats.org/drawingml/2006/main">
              <a:ext uri="{FF2B5EF4-FFF2-40B4-BE49-F238E27FC236}">
                <a16:creationId xmlns:a16="http://schemas.microsoft.com/office/drawing/2014/main" id="{2076C67A-DF20-4ED6-8942-F8EDD542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solidFill>
              <a:srgbClr val="F2B500"/>
            </a:solidFill>
            <a:prstDash val="solid"/>
          </a:ln>
        </p:spPr>
      </p:sp>
      <p:sp>
        <p:nvSpPr>
          <p:cNvPr id="40" name="capacity-label">
            <a:extLst xmlns:a="http://schemas.openxmlformats.org/drawingml/2006/main">
              <a:ext uri="{FF2B5EF4-FFF2-40B4-BE49-F238E27FC236}">
                <a16:creationId xmlns:a16="http://schemas.microsoft.com/office/drawing/2014/main" id="{5B5DF390-5556-41A2-9D7F-1C6266B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76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8324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8324A"/>
                </a:solidFill>
                <a:latin typeface="Aptos"/>
                <a:ea typeface="Aptos"/>
                <a:cs typeface="Aptos"/>
              </a:rPr>
              <a:t>SAF + renewable diesel</a:t>
            </a:r>
          </a:p>
        </p:txBody>
      </p:sp>
      <p:sp>
        <p:nvSpPr>
          <p:cNvPr id="41" name="capacity-note">
            <a:extLst xmlns:a="http://schemas.openxmlformats.org/drawingml/2006/main">
              <a:ext uri="{FF2B5EF4-FFF2-40B4-BE49-F238E27FC236}">
                <a16:creationId xmlns:a16="http://schemas.microsoft.com/office/drawing/2014/main" id="{0FA51DA1-A193-44A0-8179-6F79386A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4667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1430">
            <a:solidFill>
              <a:srgbClr val="178333"/>
            </a:solidFill>
            <a:prstDash val="solid"/>
          </a:ln>
        </p:spPr>
        <p:txBody>
          <a:bodyPr xmlns:a="http://schemas.openxmlformats.org/drawingml/2006/main" lIns="152400" tIns="38100" rIns="1524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832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24A"/>
                </a:solidFill>
                <a:latin typeface="Aptos"/>
                <a:ea typeface="Aptos"/>
                <a:cs typeface="Aptos"/>
              </a:rPr>
              <a:t>15,000 BPD</a:t>
            </a:r>
            <a:r>
              <a:rPr sz="1275">
                <a:solidFill>
                  <a:srgbClr val="18324A"/>
                </a:solidFill>
                <a:latin typeface="Aptos"/>
                <a:ea typeface="Aptos"/>
                <a:cs typeface="Aptos"/>
              </a:rPr>
              <a:t> is the combined capacity of SAF and renewable diesel.</a:t>
            </a:r>
          </a:p>
        </p:txBody>
      </p:sp>
      <p:sp>
        <p:nvSpPr>
          <p:cNvPr id="42" name="sources">
            <a:extLst xmlns:a="http://schemas.openxmlformats.org/drawingml/2006/main">
              <a:ext uri="{FF2B5EF4-FFF2-40B4-BE49-F238E27FC236}">
                <a16:creationId xmlns:a16="http://schemas.microsoft.com/office/drawing/2014/main" id="{EA924BCB-3431-458D-8CEA-F029B7E6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334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D6B78"/>
                </a:solidFill>
                <a:latin typeface="Aptos"/>
                <a:ea typeface="Aptos"/>
                <a:cs typeface="Aptos"/>
              </a:rPr>
              <a:t>Sources: F-001, F-006, F-010 and F-017</a:t>
            </a:r>
          </a:p>
        </p:txBody>
      </p:sp>
    </p:spTree>
    <p:extLst>
      <p:ext uri="{BB962C8B-B14F-4D97-AF65-F5344CB8AC3E}">
        <p14:creationId xmlns:p14="http://schemas.microsoft.com/office/powerpoint/2010/main" val="1627681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2026-07-20T19:03:12.0810000Z</dcterms:created>
  <dcterms:modified xsi:type="dcterms:W3CDTF">2026-07-20T19:03:12.0810000Z</dcterms:modified>
</coreProperties>
</file>